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D2A5E6-67B6-47E7-81DE-B71834BB73A1}" v="28" dt="2026-10-09T17:33:06.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hnavi karri" userId="deca48149353a38c" providerId="LiveId" clId="{C579B302-57C6-4E23-B286-41F42DF92DF4}"/>
    <pc:docChg chg="modSld">
      <pc:chgData name="jahnavi karri" userId="deca48149353a38c" providerId="LiveId" clId="{C579B302-57C6-4E23-B286-41F42DF92DF4}" dt="2026-10-09T17:33:26.146" v="27"/>
      <pc:docMkLst>
        <pc:docMk/>
      </pc:docMkLst>
      <pc:sldChg chg="modSp">
        <pc:chgData name="jahnavi karri" userId="deca48149353a38c" providerId="LiveId" clId="{C579B302-57C6-4E23-B286-41F42DF92DF4}" dt="2026-10-09T16:54:16.495" v="0"/>
        <pc:sldMkLst>
          <pc:docMk/>
          <pc:sldMk cId="0" sldId="256"/>
        </pc:sldMkLst>
        <pc:spChg chg="mod">
          <ac:chgData name="jahnavi karri" userId="deca48149353a38c" providerId="LiveId" clId="{C579B302-57C6-4E23-B286-41F42DF92DF4}" dt="2026-10-09T16:54:16.495" v="0"/>
          <ac:spMkLst>
            <pc:docMk/>
            <pc:sldMk cId="0" sldId="256"/>
            <ac:spMk id="15" creationId="{00000000-0000-0000-0000-000000000000}"/>
          </ac:spMkLst>
        </pc:spChg>
      </pc:sldChg>
      <pc:sldChg chg="addSp delSp modSp">
        <pc:chgData name="jahnavi karri" userId="deca48149353a38c" providerId="LiveId" clId="{C579B302-57C6-4E23-B286-41F42DF92DF4}" dt="2026-10-09T17:28:26.968" v="25"/>
        <pc:sldMkLst>
          <pc:docMk/>
          <pc:sldMk cId="0" sldId="257"/>
        </pc:sldMkLst>
        <pc:spChg chg="add mod">
          <ac:chgData name="jahnavi karri" userId="deca48149353a38c" providerId="LiveId" clId="{C579B302-57C6-4E23-B286-41F42DF92DF4}" dt="2026-10-09T16:57:32.976" v="2"/>
          <ac:spMkLst>
            <pc:docMk/>
            <pc:sldMk cId="0" sldId="257"/>
            <ac:spMk id="11" creationId="{BA00030B-7E76-E353-A9AF-84E1774DC158}"/>
          </ac:spMkLst>
        </pc:spChg>
        <pc:spChg chg="add del mod">
          <ac:chgData name="jahnavi karri" userId="deca48149353a38c" providerId="LiveId" clId="{C579B302-57C6-4E23-B286-41F42DF92DF4}" dt="2026-10-09T17:28:26.968" v="25"/>
          <ac:spMkLst>
            <pc:docMk/>
            <pc:sldMk cId="0" sldId="257"/>
            <ac:spMk id="12" creationId="{303C6B94-9E84-1439-B1BE-CF4642591CB5}"/>
          </ac:spMkLst>
        </pc:spChg>
      </pc:sldChg>
      <pc:sldChg chg="addSp delSp modSp">
        <pc:chgData name="jahnavi karri" userId="deca48149353a38c" providerId="LiveId" clId="{C579B302-57C6-4E23-B286-41F42DF92DF4}" dt="2026-10-09T17:27:59.688" v="23"/>
        <pc:sldMkLst>
          <pc:docMk/>
          <pc:sldMk cId="0" sldId="258"/>
        </pc:sldMkLst>
        <pc:spChg chg="add del mod">
          <ac:chgData name="jahnavi karri" userId="deca48149353a38c" providerId="LiveId" clId="{C579B302-57C6-4E23-B286-41F42DF92DF4}" dt="2026-10-09T17:27:59.688" v="23"/>
          <ac:spMkLst>
            <pc:docMk/>
            <pc:sldMk cId="0" sldId="258"/>
            <ac:spMk id="11" creationId="{0F876E6D-7710-D218-D406-B1AF15323341}"/>
          </ac:spMkLst>
        </pc:spChg>
      </pc:sldChg>
      <pc:sldChg chg="modSp">
        <pc:chgData name="jahnavi karri" userId="deca48149353a38c" providerId="LiveId" clId="{C579B302-57C6-4E23-B286-41F42DF92DF4}" dt="2026-10-09T16:59:16.699" v="3"/>
        <pc:sldMkLst>
          <pc:docMk/>
          <pc:sldMk cId="0" sldId="259"/>
        </pc:sldMkLst>
        <pc:spChg chg="mod">
          <ac:chgData name="jahnavi karri" userId="deca48149353a38c" providerId="LiveId" clId="{C579B302-57C6-4E23-B286-41F42DF92DF4}" dt="2026-10-09T16:59:16.699" v="3"/>
          <ac:spMkLst>
            <pc:docMk/>
            <pc:sldMk cId="0" sldId="259"/>
            <ac:spMk id="10" creationId="{00000000-0000-0000-0000-000000000000}"/>
          </ac:spMkLst>
        </pc:spChg>
      </pc:sldChg>
      <pc:sldChg chg="addSp modSp">
        <pc:chgData name="jahnavi karri" userId="deca48149353a38c" providerId="LiveId" clId="{C579B302-57C6-4E23-B286-41F42DF92DF4}" dt="2026-10-09T17:03:19.868" v="5"/>
        <pc:sldMkLst>
          <pc:docMk/>
          <pc:sldMk cId="0" sldId="260"/>
        </pc:sldMkLst>
        <pc:spChg chg="add mod">
          <ac:chgData name="jahnavi karri" userId="deca48149353a38c" providerId="LiveId" clId="{C579B302-57C6-4E23-B286-41F42DF92DF4}" dt="2026-10-09T17:03:19.868" v="5"/>
          <ac:spMkLst>
            <pc:docMk/>
            <pc:sldMk cId="0" sldId="260"/>
            <ac:spMk id="11" creationId="{25775909-5C56-F533-831F-99802BE63216}"/>
          </ac:spMkLst>
        </pc:spChg>
      </pc:sldChg>
      <pc:sldChg chg="addSp delSp modSp">
        <pc:chgData name="jahnavi karri" userId="deca48149353a38c" providerId="LiveId" clId="{C579B302-57C6-4E23-B286-41F42DF92DF4}" dt="2026-10-09T17:33:26.146" v="27"/>
        <pc:sldMkLst>
          <pc:docMk/>
          <pc:sldMk cId="0" sldId="261"/>
        </pc:sldMkLst>
        <pc:spChg chg="add mod">
          <ac:chgData name="jahnavi karri" userId="deca48149353a38c" providerId="LiveId" clId="{C579B302-57C6-4E23-B286-41F42DF92DF4}" dt="2026-10-09T17:05:05.344" v="7"/>
          <ac:spMkLst>
            <pc:docMk/>
            <pc:sldMk cId="0" sldId="261"/>
            <ac:spMk id="11" creationId="{46115CE0-B60C-81A7-D964-E2C49B17D2DD}"/>
          </ac:spMkLst>
        </pc:spChg>
        <pc:spChg chg="add del mod">
          <ac:chgData name="jahnavi karri" userId="deca48149353a38c" providerId="LiveId" clId="{C579B302-57C6-4E23-B286-41F42DF92DF4}" dt="2026-10-09T17:33:26.146" v="27"/>
          <ac:spMkLst>
            <pc:docMk/>
            <pc:sldMk cId="0" sldId="261"/>
            <ac:spMk id="12" creationId="{18112403-0EF8-0B25-332B-50009F2AE670}"/>
          </ac:spMkLst>
        </pc:spChg>
      </pc:sldChg>
      <pc:sldChg chg="addSp modSp">
        <pc:chgData name="jahnavi karri" userId="deca48149353a38c" providerId="LiveId" clId="{C579B302-57C6-4E23-B286-41F42DF92DF4}" dt="2026-10-09T17:06:21.951" v="9"/>
        <pc:sldMkLst>
          <pc:docMk/>
          <pc:sldMk cId="0" sldId="262"/>
        </pc:sldMkLst>
        <pc:spChg chg="add mod">
          <ac:chgData name="jahnavi karri" userId="deca48149353a38c" providerId="LiveId" clId="{C579B302-57C6-4E23-B286-41F42DF92DF4}" dt="2026-10-09T17:06:21.951" v="9"/>
          <ac:spMkLst>
            <pc:docMk/>
            <pc:sldMk cId="0" sldId="262"/>
            <ac:spMk id="11" creationId="{FFC464CE-2367-18D7-56CA-AD0088F15F46}"/>
          </ac:spMkLst>
        </pc:spChg>
      </pc:sldChg>
      <pc:sldChg chg="addSp modSp">
        <pc:chgData name="jahnavi karri" userId="deca48149353a38c" providerId="LiveId" clId="{C579B302-57C6-4E23-B286-41F42DF92DF4}" dt="2026-10-09T17:17:36.496" v="21"/>
        <pc:sldMkLst>
          <pc:docMk/>
          <pc:sldMk cId="0" sldId="263"/>
        </pc:sldMkLst>
        <pc:spChg chg="mod">
          <ac:chgData name="jahnavi karri" userId="deca48149353a38c" providerId="LiveId" clId="{C579B302-57C6-4E23-B286-41F42DF92DF4}" dt="2026-10-09T17:17:36.496" v="21"/>
          <ac:spMkLst>
            <pc:docMk/>
            <pc:sldMk cId="0" sldId="263"/>
            <ac:spMk id="6" creationId="{00000000-0000-0000-0000-000000000000}"/>
          </ac:spMkLst>
        </pc:spChg>
        <pc:spChg chg="add mod">
          <ac:chgData name="jahnavi karri" userId="deca48149353a38c" providerId="LiveId" clId="{C579B302-57C6-4E23-B286-41F42DF92DF4}" dt="2026-10-09T17:07:35.435" v="11"/>
          <ac:spMkLst>
            <pc:docMk/>
            <pc:sldMk cId="0" sldId="263"/>
            <ac:spMk id="11" creationId="{55A91BB1-F737-2FEA-9C2A-BBD8E8AB88F6}"/>
          </ac:spMkLst>
        </pc:spChg>
      </pc:sldChg>
      <pc:sldChg chg="modSp">
        <pc:chgData name="jahnavi karri" userId="deca48149353a38c" providerId="LiveId" clId="{C579B302-57C6-4E23-B286-41F42DF92DF4}" dt="2026-10-09T17:15:51.493" v="20"/>
        <pc:sldMkLst>
          <pc:docMk/>
          <pc:sldMk cId="0" sldId="264"/>
        </pc:sldMkLst>
        <pc:graphicFrameChg chg="mod">
          <ac:chgData name="jahnavi karri" userId="deca48149353a38c" providerId="LiveId" clId="{C579B302-57C6-4E23-B286-41F42DF92DF4}" dt="2026-10-09T17:15:51.493" v="20"/>
          <ac:graphicFrameMkLst>
            <pc:docMk/>
            <pc:sldMk cId="0" sldId="264"/>
            <ac:graphicFrameMk id="10"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2822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sp>
      <p:sp>
        <p:nvSpPr>
          <p:cNvPr id="5" name="Cover Hexagon"/>
          <p:cNvSpPr/>
          <p:nvPr/>
        </p:nvSpPr>
        <p:spPr>
          <a:xfrm rot="5400000">
            <a:off x="6613359" y="3177540"/>
            <a:ext cx="580722" cy="502920"/>
          </a:xfrm>
          <a:prstGeom prst="hexagon">
            <a:avLst/>
          </a:prstGeom>
          <a:solidFill>
            <a:schemeClr val="accent3"/>
          </a:solidFill>
          <a:ln/>
        </p:spPr>
      </p:sp>
      <p:sp>
        <p:nvSpPr>
          <p:cNvPr id="6" name="Cover Hexagon"/>
          <p:cNvSpPr/>
          <p:nvPr/>
        </p:nvSpPr>
        <p:spPr>
          <a:xfrm rot="5400000">
            <a:off x="10849583" y="1728216"/>
            <a:ext cx="337874" cy="292608"/>
          </a:xfrm>
          <a:prstGeom prst="hexagon">
            <a:avLst/>
          </a:prstGeom>
          <a:solidFill>
            <a:schemeClr val="accent3">
              <a:alpha val="70000"/>
            </a:schemeClr>
          </a:solidFill>
          <a:ln/>
        </p:spPr>
      </p:sp>
      <p:sp>
        <p:nvSpPr>
          <p:cNvPr id="7" name="Cover Hexagon"/>
          <p:cNvSpPr/>
          <p:nvPr/>
        </p:nvSpPr>
        <p:spPr>
          <a:xfrm rot="5400000">
            <a:off x="6868728" y="1440180"/>
            <a:ext cx="4276224" cy="3703320"/>
          </a:xfrm>
          <a:prstGeom prst="hexagon">
            <a:avLst/>
          </a:prstGeom>
          <a:solidFill>
            <a:schemeClr val="accent1">
              <a:alpha val="45000"/>
            </a:schemeClr>
          </a:solidFill>
          <a:ln/>
        </p:spPr>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4347934" y="1765193"/>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5" name="Cover Fields"/>
          <p:cNvSpPr txBox="1"/>
          <p:nvPr/>
        </p:nvSpPr>
        <p:spPr>
          <a:xfrm>
            <a:off x="361168" y="2514600"/>
            <a:ext cx="8375905" cy="3973731"/>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800" dirty="0">
                <a:solidFill>
                  <a:schemeClr val="bg1"/>
                </a:solidFill>
              </a:rPr>
              <a:t>Team Name – Syntax who?</a:t>
            </a:r>
            <a:endParaRPr lang="en-US" sz="1800" dirty="0"/>
          </a:p>
          <a:p>
            <a:pPr marL="279400" indent="-279400">
              <a:spcAft>
                <a:spcPts val="1400"/>
              </a:spcAft>
              <a:buClr>
                <a:schemeClr val="accent3"/>
              </a:buClr>
              <a:buSzPct val="100000"/>
              <a:buChar char="•"/>
            </a:pPr>
            <a:r>
              <a:rPr lang="en-US" sz="1800" dirty="0">
                <a:solidFill>
                  <a:schemeClr val="bg1"/>
                </a:solidFill>
              </a:rPr>
              <a:t>Team Members –</a:t>
            </a:r>
            <a:r>
              <a:rPr lang="en-US" dirty="0">
                <a:solidFill>
                  <a:schemeClr val="bg1"/>
                </a:solidFill>
              </a:rPr>
              <a:t> These are the team members anna:</a:t>
            </a:r>
          </a:p>
          <a:p>
            <a:pPr>
              <a:spcAft>
                <a:spcPts val="1400"/>
              </a:spcAft>
              <a:buClr>
                <a:schemeClr val="accent3"/>
              </a:buClr>
              <a:buSzPct val="100000"/>
            </a:pPr>
            <a:r>
              <a:rPr lang="en-US" dirty="0">
                <a:solidFill>
                  <a:schemeClr val="bg1"/>
                </a:solidFill>
              </a:rPr>
              <a:t>CB.SC.U4CYS26022 KARRI JAHNAVI </a:t>
            </a:r>
          </a:p>
          <a:p>
            <a:pPr>
              <a:spcAft>
                <a:spcPts val="1400"/>
              </a:spcAft>
              <a:buClr>
                <a:schemeClr val="accent3"/>
              </a:buClr>
              <a:buSzPct val="100000"/>
            </a:pPr>
            <a:r>
              <a:rPr lang="en-US" dirty="0">
                <a:solidFill>
                  <a:schemeClr val="bg1"/>
                </a:solidFill>
              </a:rPr>
              <a:t>CB.SC.U4CYS26027 LAKSHANA SASVITHA S.S</a:t>
            </a:r>
          </a:p>
          <a:p>
            <a:pPr>
              <a:spcAft>
                <a:spcPts val="1400"/>
              </a:spcAft>
              <a:buClr>
                <a:schemeClr val="accent3"/>
              </a:buClr>
              <a:buSzPct val="100000"/>
            </a:pPr>
            <a:r>
              <a:rPr lang="en-US" dirty="0">
                <a:solidFill>
                  <a:schemeClr val="bg1"/>
                </a:solidFill>
              </a:rPr>
              <a:t>CB.SC.U4CYS26028 M.CHETHANA SAI RAMA LAKSHMI</a:t>
            </a:r>
          </a:p>
          <a:p>
            <a:pPr>
              <a:spcAft>
                <a:spcPts val="1400"/>
              </a:spcAft>
              <a:buClr>
                <a:schemeClr val="accent3"/>
              </a:buClr>
              <a:buSzPct val="100000"/>
            </a:pPr>
            <a:r>
              <a:rPr lang="en-US" dirty="0">
                <a:solidFill>
                  <a:schemeClr val="bg1"/>
                </a:solidFill>
              </a:rPr>
              <a:t>CB.SC.U4CYS26029 M.YASHWANTH</a:t>
            </a:r>
            <a:endParaRPr lang="en-US" sz="1800" dirty="0"/>
          </a:p>
          <a:p>
            <a:pPr marL="279400" indent="-279400">
              <a:spcAft>
                <a:spcPts val="1400"/>
              </a:spcAft>
              <a:buClr>
                <a:schemeClr val="accent3"/>
              </a:buClr>
              <a:buSzPct val="100000"/>
              <a:buChar char="•"/>
            </a:pPr>
            <a:r>
              <a:rPr lang="en-US" sz="1800" dirty="0">
                <a:solidFill>
                  <a:schemeClr val="bg1"/>
                </a:solidFill>
              </a:rPr>
              <a:t>Selected Domain –  </a:t>
            </a:r>
            <a:r>
              <a:rPr lang="en-US" dirty="0">
                <a:solidFill>
                  <a:schemeClr val="bg1"/>
                </a:solidFill>
              </a:rPr>
              <a:t>Domain: In</a:t>
            </a:r>
            <a:r>
              <a:rPr lang="en-US" sz="1800" dirty="0">
                <a:solidFill>
                  <a:schemeClr val="bg1"/>
                </a:solidFill>
              </a:rPr>
              <a:t>telligent systems and digital futures</a:t>
            </a:r>
            <a:endParaRPr lang="en-US" sz="1800" dirty="0"/>
          </a:p>
          <a:p>
            <a:pPr marL="279400" indent="-279400">
              <a:spcAft>
                <a:spcPts val="1400"/>
              </a:spcAft>
              <a:buClr>
                <a:schemeClr val="accent3"/>
              </a:buClr>
              <a:buSzPct val="100000"/>
              <a:buChar char="•"/>
            </a:pPr>
            <a:r>
              <a:rPr lang="en-US" sz="1800" dirty="0">
                <a:solidFill>
                  <a:schemeClr val="bg1"/>
                </a:solidFill>
              </a:rPr>
              <a:t>Problem Statement –</a:t>
            </a:r>
            <a:r>
              <a:rPr lang="en-US" dirty="0">
                <a:solidFill>
                  <a:schemeClr val="bg1"/>
                </a:solidFill>
              </a:rPr>
              <a:t> Class 12 students struggle to find suitable colleges and courses due to scattered admission, cutoff and placement information across different platforms.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3200" b="1" kern="0" spc="100" dirty="0">
                <a:solidFill>
                  <a:schemeClr val="accent2"/>
                </a:solidFill>
                <a:latin typeface="Britannic Bold" panose="020B0903060703020204" pitchFamily="34" charset="0"/>
              </a:rPr>
              <a:t>DOMAIN PROBLEM IN OUR WORDS</a:t>
            </a:r>
            <a:endParaRPr lang="en-US" sz="3200" dirty="0">
              <a:solidFill>
                <a:schemeClr val="accent2"/>
              </a:solidFill>
              <a:latin typeface="Britannic Bold" panose="020B0903060703020204" pitchFamily="34" charset="0"/>
            </a:endParaRPr>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2800" b="1" dirty="0">
                <a:solidFill>
                  <a:schemeClr val="accent2"/>
                </a:solidFill>
                <a:latin typeface="Britannic Bold" panose="020B0903060703020204" pitchFamily="34" charset="0"/>
              </a:rPr>
              <a:t>Explain the problem in your domain simply, in your own words</a:t>
            </a:r>
            <a:endParaRPr lang="en-US" sz="2800" dirty="0">
              <a:latin typeface="Britannic Bold" panose="020B0903060703020204" pitchFamily="34" charset="0"/>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
        <p:nvSpPr>
          <p:cNvPr id="11" name="TextBox 10">
            <a:extLst>
              <a:ext uri="{FF2B5EF4-FFF2-40B4-BE49-F238E27FC236}">
                <a16:creationId xmlns:a16="http://schemas.microsoft.com/office/drawing/2014/main" id="{BA00030B-7E76-E353-A9AF-84E1774DC158}"/>
              </a:ext>
            </a:extLst>
          </p:cNvPr>
          <p:cNvSpPr txBox="1"/>
          <p:nvPr/>
        </p:nvSpPr>
        <p:spPr>
          <a:xfrm>
            <a:off x="603504" y="2000059"/>
            <a:ext cx="9095874" cy="3970318"/>
          </a:xfrm>
          <a:prstGeom prst="rect">
            <a:avLst/>
          </a:prstGeom>
          <a:noFill/>
        </p:spPr>
        <p:txBody>
          <a:bodyPr wrap="square" rtlCol="0">
            <a:spAutoFit/>
          </a:bodyPr>
          <a:lstStyle/>
          <a:p>
            <a:pPr marL="285750" indent="-285750">
              <a:buFont typeface="Wingdings" panose="05000000000000000000" pitchFamily="2" charset="2"/>
              <a:buChar char="v"/>
            </a:pPr>
            <a:r>
              <a:rPr lang="en-IN" b="1" dirty="0">
                <a:solidFill>
                  <a:schemeClr val="accent2"/>
                </a:solidFill>
                <a:latin typeface="Britannic Bold" panose="020B0903060703020204" pitchFamily="34" charset="0"/>
              </a:rPr>
              <a:t>Problem:</a:t>
            </a:r>
            <a:r>
              <a:rPr lang="en-IN" dirty="0">
                <a:solidFill>
                  <a:schemeClr val="accent2"/>
                </a:solidFill>
                <a:latin typeface="Britannic Bold" panose="020B0903060703020204" pitchFamily="34" charset="0"/>
              </a:rPr>
              <a:t> Intermediate students are unclear about their future. There are many career options, but the information is scattered across YouTube, relatives, and coaching centres, so many students simply follow friends, parents, or trends instead of choosing a path that matches their own interests. Missing details about entrance exams, scholarships, and deadlines, along with limited access to guidance for rural and tier-2/3 students, makes it worse. The result is wrong course choices, dropouts, and stress.</a:t>
            </a:r>
          </a:p>
          <a:p>
            <a:endParaRPr lang="en-IN" dirty="0">
              <a:solidFill>
                <a:schemeClr val="accent2"/>
              </a:solidFill>
              <a:latin typeface="Britannic Bold" panose="020B0903060703020204" pitchFamily="34" charset="0"/>
            </a:endParaRPr>
          </a:p>
          <a:p>
            <a:pPr marL="285750" indent="-285750">
              <a:buFont typeface="Wingdings" panose="05000000000000000000" pitchFamily="2" charset="2"/>
              <a:buChar char="v"/>
            </a:pPr>
            <a:r>
              <a:rPr lang="en-IN" b="1" dirty="0">
                <a:solidFill>
                  <a:schemeClr val="accent2"/>
                </a:solidFill>
                <a:latin typeface="Britannic Bold" panose="020B0903060703020204" pitchFamily="34" charset="0"/>
              </a:rPr>
              <a:t>How is it useful:</a:t>
            </a:r>
            <a:r>
              <a:rPr lang="en-IN" dirty="0">
                <a:solidFill>
                  <a:schemeClr val="accent2"/>
                </a:solidFill>
                <a:latin typeface="Britannic Bold" panose="020B0903060703020204" pitchFamily="34" charset="0"/>
              </a:rPr>
              <a:t> The app gives students a complete 360° view of their career options in one organised place. For every option, it shows the required exams, colleges, skills, scholarships, and future scope in a clear, structured way. Students can explore and compare paths side by side instead of searching across many sources. This helps them make confident, informed decisions, saves time and stress, and gives everyone equal access to career information regardless of location.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3200" b="1" kern="0" spc="100" dirty="0">
                <a:solidFill>
                  <a:schemeClr val="accent2"/>
                </a:solidFill>
                <a:latin typeface="Britannic Bold" panose="020B0903060703020204" pitchFamily="34" charset="0"/>
              </a:rPr>
              <a:t>WHO IS AFFECTED?</a:t>
            </a:r>
            <a:endParaRPr lang="en-US" sz="3200" dirty="0">
              <a:solidFill>
                <a:schemeClr val="accent2"/>
              </a:solidFill>
              <a:latin typeface="Britannic Bold" panose="020B0903060703020204" pitchFamily="34" charset="0"/>
            </a:endParaRPr>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2800" b="1" dirty="0">
                <a:solidFill>
                  <a:schemeClr val="accent2"/>
                </a:solidFill>
                <a:latin typeface="Britannic Bold" panose="020B0903060703020204" pitchFamily="34" charset="0"/>
              </a:rPr>
              <a:t>Target users, stakeholders, beneficiaries</a:t>
            </a:r>
            <a:endParaRPr lang="en-US" sz="2800" dirty="0">
              <a:solidFill>
                <a:schemeClr val="accent2"/>
              </a:solidFill>
              <a:latin typeface="Britannic Bold" panose="020B0903060703020204" pitchFamily="34" charset="0"/>
            </a:endParaRPr>
          </a:p>
        </p:txBody>
      </p:sp>
      <p:sp>
        <p:nvSpPr>
          <p:cNvPr id="10" name="Prompts"/>
          <p:cNvSpPr txBox="1"/>
          <p:nvPr/>
        </p:nvSpPr>
        <p:spPr>
          <a:xfrm>
            <a:off x="777240" y="1216152"/>
            <a:ext cx="10015728" cy="4101951"/>
          </a:xfrm>
          <a:prstGeom prst="rect">
            <a:avLst/>
          </a:prstGeom>
          <a:noFill/>
          <a:ln/>
        </p:spPr>
        <p:txBody>
          <a:bodyPr wrap="square" lIns="0" tIns="0" rIns="0" bIns="0" rtlCol="0" anchor="t"/>
          <a:lstStyle/>
          <a:p>
            <a:pPr>
              <a:spcAft>
                <a:spcPts val="1000"/>
              </a:spcAft>
              <a:buClr>
                <a:schemeClr val="accent1"/>
              </a:buClr>
              <a:buSzPct val="100000"/>
            </a:pPr>
            <a:endParaRPr lang="en-US" dirty="0">
              <a:latin typeface="Bahnschrift SemiBold" panose="020B0502040204020203" pitchFamily="34" charset="0"/>
            </a:endParaRPr>
          </a:p>
          <a:p>
            <a:pPr>
              <a:spcAft>
                <a:spcPts val="1000"/>
              </a:spcAft>
              <a:buClr>
                <a:schemeClr val="accent1"/>
              </a:buClr>
              <a:buSzPct val="100000"/>
            </a:pPr>
            <a:endParaRPr lang="en-US" dirty="0">
              <a:solidFill>
                <a:schemeClr val="accent2"/>
              </a:solidFill>
              <a:latin typeface="Britannic Bold" panose="020B0903060703020204" pitchFamily="34" charset="0"/>
            </a:endParaRPr>
          </a:p>
          <a:p>
            <a:pPr marL="285750" indent="-285750">
              <a:spcAft>
                <a:spcPts val="1000"/>
              </a:spcAft>
              <a:buClr>
                <a:schemeClr val="accent1"/>
              </a:buClr>
              <a:buSzPct val="100000"/>
              <a:buFont typeface="Wingdings" panose="05000000000000000000" pitchFamily="2" charset="2"/>
              <a:buChar char="v"/>
            </a:pPr>
            <a:r>
              <a:rPr lang="en-US" dirty="0">
                <a:solidFill>
                  <a:schemeClr val="accent2"/>
                </a:solidFill>
                <a:latin typeface="Britannic Bold" panose="020B0903060703020204" pitchFamily="34" charset="0"/>
              </a:rPr>
              <a:t>Primary Users / Target Group</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Class 12 students searching for undergraduate courses and colleges.</a:t>
            </a:r>
          </a:p>
          <a:p>
            <a:pPr>
              <a:spcAft>
                <a:spcPts val="1000"/>
              </a:spcAft>
              <a:buClr>
                <a:schemeClr val="accent1"/>
              </a:buClr>
              <a:buSzPct val="100000"/>
            </a:pPr>
            <a:r>
              <a:rPr lang="en-US" dirty="0">
                <a:solidFill>
                  <a:schemeClr val="accent2"/>
                </a:solidFill>
                <a:latin typeface="Britannic Bold" panose="020B0903060703020204" pitchFamily="34" charset="0"/>
              </a:rPr>
              <a:t>Students who are confused about selecting a suitable course, college and admission route.</a:t>
            </a:r>
          </a:p>
          <a:p>
            <a:pPr marL="285750" indent="-285750">
              <a:spcAft>
                <a:spcPts val="1000"/>
              </a:spcAft>
              <a:buClr>
                <a:schemeClr val="accent1"/>
              </a:buClr>
              <a:buSzPct val="100000"/>
              <a:buFont typeface="Wingdings" panose="05000000000000000000" pitchFamily="2" charset="2"/>
              <a:buChar char="v"/>
            </a:pPr>
            <a:r>
              <a:rPr lang="en-US" dirty="0">
                <a:solidFill>
                  <a:schemeClr val="accent2"/>
                </a:solidFill>
                <a:latin typeface="Britannic Bold" panose="020B0903060703020204" pitchFamily="34" charset="0"/>
              </a:rPr>
              <a:t>Secondary Stakeholders</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 Parents and guardians.</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Teachers and career counsellors.</a:t>
            </a:r>
          </a:p>
          <a:p>
            <a:pPr marL="285750" indent="-285750">
              <a:spcAft>
                <a:spcPts val="1000"/>
              </a:spcAft>
              <a:buClr>
                <a:schemeClr val="accent1"/>
              </a:buClr>
              <a:buSzPct val="100000"/>
              <a:buFont typeface="Wingdings" panose="05000000000000000000" pitchFamily="2" charset="2"/>
              <a:buChar char="v"/>
            </a:pPr>
            <a:r>
              <a:rPr lang="en-US" dirty="0">
                <a:solidFill>
                  <a:schemeClr val="accent2"/>
                </a:solidFill>
                <a:latin typeface="Britannic Bold" panose="020B0903060703020204" pitchFamily="34" charset="0"/>
              </a:rPr>
              <a:t>Who Benefits If the Problem Is Solved?</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Students can explore suitable courses, understand admission options and compare colleges more easily. Parents and counsellors can support students in making informed decisions.</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3200" b="1" kern="0" spc="100" dirty="0">
                <a:solidFill>
                  <a:schemeClr val="accent2"/>
                </a:solidFill>
                <a:latin typeface="Britannic Bold" panose="020B0903060703020204" pitchFamily="34" charset="0"/>
              </a:rPr>
              <a:t>CURRENT SITUATION &amp; CONTEXT</a:t>
            </a:r>
            <a:endParaRPr lang="en-US" sz="3200" dirty="0">
              <a:solidFill>
                <a:schemeClr val="accent2"/>
              </a:solidFill>
              <a:latin typeface="Britannic Bold" panose="020B0903060703020204" pitchFamily="34" charset="0"/>
            </a:endParaRPr>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55558"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603504" y="114300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rot="10973990" flipV="1">
            <a:off x="664541" y="1188264"/>
            <a:ext cx="335127" cy="335127"/>
          </a:xfrm>
          <a:prstGeom prst="rect">
            <a:avLst/>
          </a:prstGeom>
        </p:spPr>
      </p:pic>
      <p:sp>
        <p:nvSpPr>
          <p:cNvPr id="9" name="Lead Text"/>
          <p:cNvSpPr txBox="1"/>
          <p:nvPr/>
        </p:nvSpPr>
        <p:spPr>
          <a:xfrm>
            <a:off x="1097280" y="1143000"/>
            <a:ext cx="9601200" cy="502920"/>
          </a:xfrm>
          <a:prstGeom prst="rect">
            <a:avLst/>
          </a:prstGeom>
          <a:noFill/>
          <a:ln/>
        </p:spPr>
        <p:txBody>
          <a:bodyPr wrap="square" lIns="0" tIns="0" rIns="0" bIns="0" rtlCol="0" anchor="ctr"/>
          <a:lstStyle/>
          <a:p>
            <a:pPr marL="0" indent="0">
              <a:buNone/>
            </a:pPr>
            <a:r>
              <a:rPr lang="en-US" sz="2400" b="1" dirty="0">
                <a:solidFill>
                  <a:schemeClr val="accent2"/>
                </a:solidFill>
                <a:latin typeface="Britannic Bold" panose="020B0903060703020204" pitchFamily="34" charset="0"/>
              </a:rPr>
              <a:t>Existing scenario, background and how things work today</a:t>
            </a:r>
            <a:endParaRPr lang="en-US" sz="2400" dirty="0">
              <a:latin typeface="Britannic Bold" panose="020B0903060703020204" pitchFamily="34" charset="0"/>
            </a:endParaRPr>
          </a:p>
        </p:txBody>
      </p:sp>
      <p:sp>
        <p:nvSpPr>
          <p:cNvPr id="10" name="Prompts"/>
          <p:cNvSpPr txBox="1"/>
          <p:nvPr/>
        </p:nvSpPr>
        <p:spPr>
          <a:xfrm>
            <a:off x="832104" y="1676095"/>
            <a:ext cx="10424160" cy="4519879"/>
          </a:xfrm>
          <a:prstGeom prst="rect">
            <a:avLst/>
          </a:prstGeom>
          <a:noFill/>
          <a:ln/>
        </p:spPr>
        <p:txBody>
          <a:bodyPr wrap="square" lIns="0" tIns="0" rIns="0" bIns="0" rtlCol="0" anchor="t"/>
          <a:lstStyle/>
          <a:p>
            <a:pPr marL="285750" indent="-285750">
              <a:spcAft>
                <a:spcPts val="1000"/>
              </a:spcAft>
              <a:buClr>
                <a:schemeClr val="accent1"/>
              </a:buClr>
              <a:buSzPct val="100000"/>
              <a:buFont typeface="Wingdings" panose="05000000000000000000" pitchFamily="2" charset="2"/>
              <a:buChar char="v"/>
            </a:pPr>
            <a:r>
              <a:rPr lang="en-US" dirty="0">
                <a:solidFill>
                  <a:schemeClr val="accent2"/>
                </a:solidFill>
                <a:latin typeface="Britannic Bold" panose="020B0903060703020204" pitchFamily="34" charset="0"/>
              </a:rPr>
              <a:t>Existing Scenario and Background</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Platforms such as Careers360, </a:t>
            </a:r>
            <a:r>
              <a:rPr lang="en-US" dirty="0" err="1">
                <a:solidFill>
                  <a:schemeClr val="accent2"/>
                </a:solidFill>
                <a:latin typeface="Britannic Bold" panose="020B0903060703020204" pitchFamily="34" charset="0"/>
              </a:rPr>
              <a:t>CollegeDekho</a:t>
            </a:r>
            <a:r>
              <a:rPr lang="en-US" dirty="0">
                <a:solidFill>
                  <a:schemeClr val="accent2"/>
                </a:solidFill>
                <a:latin typeface="Britannic Bold" panose="020B0903060703020204" pitchFamily="34" charset="0"/>
              </a:rPr>
              <a:t>, Shiksha and </a:t>
            </a:r>
            <a:r>
              <a:rPr lang="en-US" dirty="0" err="1">
                <a:solidFill>
                  <a:schemeClr val="accent2"/>
                </a:solidFill>
                <a:latin typeface="Britannic Bold" panose="020B0903060703020204" pitchFamily="34" charset="0"/>
              </a:rPr>
              <a:t>Collegedunia</a:t>
            </a:r>
            <a:r>
              <a:rPr lang="en-US" dirty="0">
                <a:solidFill>
                  <a:schemeClr val="accent2"/>
                </a:solidFill>
                <a:latin typeface="Britannic Bold" panose="020B0903060703020204" pitchFamily="34" charset="0"/>
              </a:rPr>
              <a:t> already provide college-search tools, course information and admission guidance. However, students may still need to navigate multiple pages and sources to understand and compare their options.</a:t>
            </a:r>
          </a:p>
          <a:p>
            <a:pPr marL="285750" indent="-285750">
              <a:spcAft>
                <a:spcPts val="1000"/>
              </a:spcAft>
              <a:buClr>
                <a:schemeClr val="accent1"/>
              </a:buClr>
              <a:buSzPct val="100000"/>
              <a:buFont typeface="Wingdings" panose="05000000000000000000" pitchFamily="2" charset="2"/>
              <a:buChar char="v"/>
            </a:pPr>
            <a:r>
              <a:rPr lang="en-US" dirty="0">
                <a:solidFill>
                  <a:schemeClr val="accent2"/>
                </a:solidFill>
                <a:latin typeface="Britannic Bold" panose="020B0903060703020204" pitchFamily="34" charset="0"/>
              </a:rPr>
              <a:t>Relevant Data or Facts</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Existing platforms offer many useful features. Our initial problem observation is that the college-search journey can feel overwhelming for some Class 12 students. This observation requires further validation with target users.</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Search for a preferred course.</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Find colleges offering that course.</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Check eligibility and entrance exams.</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Search for previous-year cutoffs.</a:t>
            </a:r>
          </a:p>
          <a:p>
            <a:pPr marL="285750" indent="-285750">
              <a:spcAft>
                <a:spcPts val="1000"/>
              </a:spcAft>
              <a:buClr>
                <a:schemeClr val="accent1"/>
              </a:buClr>
              <a:buSzPct val="100000"/>
              <a:buFont typeface="Arial" panose="020B0604020202020204" pitchFamily="34" charset="0"/>
              <a:buChar char="•"/>
            </a:pPr>
            <a:r>
              <a:rPr lang="en-US" dirty="0">
                <a:solidFill>
                  <a:schemeClr val="accent2"/>
                </a:solidFill>
                <a:latin typeface="Britannic Bold" panose="020B0903060703020204" pitchFamily="34" charset="0"/>
              </a:rPr>
              <a:t>Compare placements and shortlist colleges.</a:t>
            </a:r>
            <a:endParaRPr lang="en-US" sz="1800" dirty="0">
              <a:solidFill>
                <a:schemeClr val="accent2"/>
              </a:solidFill>
              <a:latin typeface="Britannic Bold" panose="020B0903060703020204" pitchFamily="34" charset="0"/>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3200" b="1" kern="0" spc="100" dirty="0">
                <a:solidFill>
                  <a:schemeClr val="accent2"/>
                </a:solidFill>
                <a:latin typeface="Britannic Bold" panose="020B0903060703020204" pitchFamily="34" charset="0"/>
              </a:rPr>
              <a:t>KEY CHALLENGES</a:t>
            </a:r>
            <a:endParaRPr lang="en-US" sz="3200" dirty="0">
              <a:solidFill>
                <a:schemeClr val="accent2"/>
              </a:solidFill>
              <a:latin typeface="Britannic Bold" panose="020B0903060703020204" pitchFamily="34" charset="0"/>
            </a:endParaRPr>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2400" b="1" dirty="0">
                <a:solidFill>
                  <a:schemeClr val="accent2"/>
                </a:solidFill>
                <a:latin typeface="Britannic Bold" panose="020B0903060703020204" pitchFamily="34" charset="0"/>
              </a:rPr>
              <a:t>Main difficulties, bottlenecks, root causes and consequences</a:t>
            </a:r>
            <a:endParaRPr lang="en-US" sz="2400" dirty="0">
              <a:latin typeface="Britannic Bold" panose="020B0903060703020204" pitchFamily="34" charset="0"/>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
        <p:nvSpPr>
          <p:cNvPr id="11" name="TextBox 10">
            <a:extLst>
              <a:ext uri="{FF2B5EF4-FFF2-40B4-BE49-F238E27FC236}">
                <a16:creationId xmlns:a16="http://schemas.microsoft.com/office/drawing/2014/main" id="{25775909-5C56-F533-831F-99802BE63216}"/>
              </a:ext>
            </a:extLst>
          </p:cNvPr>
          <p:cNvSpPr txBox="1"/>
          <p:nvPr/>
        </p:nvSpPr>
        <p:spPr>
          <a:xfrm>
            <a:off x="1005840" y="1779687"/>
            <a:ext cx="8884775" cy="4247317"/>
          </a:xfrm>
          <a:prstGeom prst="rect">
            <a:avLst/>
          </a:prstGeom>
          <a:noFill/>
        </p:spPr>
        <p:txBody>
          <a:bodyPr wrap="square" rtlCol="0">
            <a:spAutoFit/>
          </a:bodyPr>
          <a:lstStyle/>
          <a:p>
            <a:endParaRPr lang="en-US" dirty="0"/>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Main Difficulties and Bottlenecks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Navigating multiple pages to gather college information.</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Comparing courses and colleges across different platforms.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Understanding eligibility and different entrance-exam routes.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Finding and interpreting cutoff and placement information.</a:t>
            </a:r>
          </a:p>
          <a:p>
            <a:endParaRPr lang="en-US" dirty="0">
              <a:solidFill>
                <a:schemeClr val="accent2"/>
              </a:solidFill>
              <a:latin typeface="Britannic Bold" panose="020B0903060703020204" pitchFamily="34" charset="0"/>
            </a:endParaRPr>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Root Causes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 Large amounts of information across different platforms.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 Different layouts and methods of presenting information.</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Difficulty identifying which information matters most when choosing a college.</a:t>
            </a:r>
          </a:p>
          <a:p>
            <a:endParaRPr lang="en-US" dirty="0">
              <a:solidFill>
                <a:schemeClr val="accent2"/>
              </a:solidFill>
              <a:latin typeface="Britannic Bold" panose="020B0903060703020204" pitchFamily="34" charset="0"/>
            </a:endParaRPr>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Consequences of Leaving Them Unsolved</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Students may spend more time researching, feel overwhelmed by the available choices or overlook suitable college options.</a:t>
            </a:r>
            <a:endParaRPr lang="en-IN" dirty="0">
              <a:solidFill>
                <a:schemeClr val="accent2"/>
              </a:solidFill>
              <a:latin typeface="Britannic Bold" panose="020B0903060703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3200" b="1" kern="0" spc="100" dirty="0">
                <a:solidFill>
                  <a:schemeClr val="accent2"/>
                </a:solidFill>
                <a:latin typeface="Britannic Bold" panose="020B0903060703020204" pitchFamily="34" charset="0"/>
              </a:rPr>
              <a:t>EXISTING SOLUTIONS / APPROACHES</a:t>
            </a:r>
            <a:endParaRPr lang="en-US" sz="3200" dirty="0">
              <a:solidFill>
                <a:schemeClr val="accent2"/>
              </a:solidFill>
              <a:latin typeface="Britannic Bold" panose="020B0903060703020204" pitchFamily="34" charset="0"/>
            </a:endParaRPr>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2400" b="1" dirty="0">
                <a:solidFill>
                  <a:schemeClr val="accent2"/>
                </a:solidFill>
                <a:latin typeface="Britannic Bold" panose="020B0903060703020204" pitchFamily="34" charset="0"/>
              </a:rPr>
              <a:t>What is already being done, and where it falls short</a:t>
            </a:r>
            <a:endParaRPr lang="en-US" sz="2400" dirty="0">
              <a:latin typeface="Britannic Bold" panose="020B0903060703020204" pitchFamily="34" charset="0"/>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
        <p:nvSpPr>
          <p:cNvPr id="11" name="TextBox 10">
            <a:extLst>
              <a:ext uri="{FF2B5EF4-FFF2-40B4-BE49-F238E27FC236}">
                <a16:creationId xmlns:a16="http://schemas.microsoft.com/office/drawing/2014/main" id="{46115CE0-B60C-81A7-D964-E2C49B17D2DD}"/>
              </a:ext>
            </a:extLst>
          </p:cNvPr>
          <p:cNvSpPr txBox="1"/>
          <p:nvPr/>
        </p:nvSpPr>
        <p:spPr>
          <a:xfrm>
            <a:off x="457200" y="1523390"/>
            <a:ext cx="11582400" cy="4524315"/>
          </a:xfrm>
          <a:prstGeom prst="rect">
            <a:avLst/>
          </a:prstGeom>
          <a:noFill/>
        </p:spPr>
        <p:txBody>
          <a:bodyPr wrap="square" rtlCol="0">
            <a:spAutoFit/>
          </a:bodyPr>
          <a:lstStyle/>
          <a:p>
            <a:endParaRPr lang="en-US" dirty="0"/>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Existing Methods, Systems or Alternatives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Careers360</a:t>
            </a:r>
          </a:p>
          <a:p>
            <a:pPr marL="285750" indent="-285750">
              <a:buFont typeface="Arial" panose="020B0604020202020204" pitchFamily="34" charset="0"/>
              <a:buChar char="•"/>
            </a:pPr>
            <a:r>
              <a:rPr lang="en-US" dirty="0" err="1">
                <a:solidFill>
                  <a:schemeClr val="accent2"/>
                </a:solidFill>
                <a:latin typeface="Britannic Bold" panose="020B0903060703020204" pitchFamily="34" charset="0"/>
              </a:rPr>
              <a:t>CollegeDekho</a:t>
            </a:r>
            <a:endParaRPr lang="en-US" dirty="0">
              <a:solidFill>
                <a:schemeClr val="accent2"/>
              </a:solidFill>
              <a:latin typeface="Britannic Bold" panose="020B0903060703020204" pitchFamily="34" charset="0"/>
            </a:endParaRP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Shiksha</a:t>
            </a:r>
          </a:p>
          <a:p>
            <a:pPr marL="285750" indent="-285750">
              <a:buFont typeface="Arial" panose="020B0604020202020204" pitchFamily="34" charset="0"/>
              <a:buChar char="•"/>
            </a:pPr>
            <a:r>
              <a:rPr lang="en-US" dirty="0" err="1">
                <a:solidFill>
                  <a:schemeClr val="accent2"/>
                </a:solidFill>
                <a:latin typeface="Britannic Bold" panose="020B0903060703020204" pitchFamily="34" charset="0"/>
              </a:rPr>
              <a:t>Collegedunia</a:t>
            </a:r>
            <a:endParaRPr lang="en-US" dirty="0">
              <a:solidFill>
                <a:schemeClr val="accent2"/>
              </a:solidFill>
              <a:latin typeface="Britannic Bold" panose="020B0903060703020204" pitchFamily="34" charset="0"/>
            </a:endParaRP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Official college websites and entrance-exam portals</a:t>
            </a:r>
          </a:p>
          <a:p>
            <a:pPr marL="285750" indent="-285750">
              <a:buFont typeface="Arial" panose="020B0604020202020204" pitchFamily="34" charset="0"/>
              <a:buChar char="•"/>
            </a:pPr>
            <a:endParaRPr lang="en-US" dirty="0">
              <a:solidFill>
                <a:schemeClr val="accent2"/>
              </a:solidFill>
              <a:latin typeface="Britannic Bold" panose="020B0903060703020204" pitchFamily="34" charset="0"/>
            </a:endParaRPr>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Limitations to Investigate</a:t>
            </a:r>
          </a:p>
          <a:p>
            <a:r>
              <a:rPr lang="en-US" dirty="0">
                <a:solidFill>
                  <a:schemeClr val="accent2"/>
                </a:solidFill>
                <a:latin typeface="Britannic Bold" panose="020B0903060703020204" pitchFamily="34" charset="0"/>
              </a:rPr>
              <a:t>Although these platforms provide extensive information and tools, our team needs to evaluate how easily a Class 12 student can move from their school stream and interests to a relevant course, suitable colleges and admission requirements.</a:t>
            </a:r>
          </a:p>
          <a:p>
            <a:endParaRPr lang="en-US" dirty="0">
              <a:solidFill>
                <a:schemeClr val="accent2"/>
              </a:solidFill>
              <a:latin typeface="Britannic Bold" panose="020B0903060703020204" pitchFamily="34" charset="0"/>
            </a:endParaRPr>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The Gap They Leave Open — Our Opportunity</a:t>
            </a:r>
          </a:p>
          <a:p>
            <a:r>
              <a:rPr lang="en-US" dirty="0">
                <a:solidFill>
                  <a:schemeClr val="accent2"/>
                </a:solidFill>
                <a:latin typeface="Britannic Bold" panose="020B0903060703020204" pitchFamily="34" charset="0"/>
              </a:rPr>
              <a:t>Develop a student-first, guided college-discovery experience that </a:t>
            </a:r>
            <a:r>
              <a:rPr lang="en-US" dirty="0" err="1">
                <a:solidFill>
                  <a:schemeClr val="accent2"/>
                </a:solidFill>
                <a:latin typeface="Britannic Bold" panose="020B0903060703020204" pitchFamily="34" charset="0"/>
              </a:rPr>
              <a:t>organises</a:t>
            </a:r>
            <a:r>
              <a:rPr lang="en-US" dirty="0">
                <a:solidFill>
                  <a:schemeClr val="accent2"/>
                </a:solidFill>
                <a:latin typeface="Britannic Bold" panose="020B0903060703020204" pitchFamily="34" charset="0"/>
              </a:rPr>
              <a:t> course exploration, preferred location, entrance-exam routes, previous-year cutoffs and placement information into a clear sequence</a:t>
            </a:r>
            <a:r>
              <a:rPr lang="en-US" dirty="0">
                <a:solidFill>
                  <a:schemeClr val="accent2"/>
                </a:solidFill>
              </a:rPr>
              <a:t>.</a:t>
            </a:r>
            <a:endParaRPr lang="en-IN" dirty="0">
              <a:solidFill>
                <a:schemeClr val="accent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800" b="1" kern="0" spc="100" dirty="0">
                <a:solidFill>
                  <a:schemeClr val="accent2"/>
                </a:solidFill>
                <a:latin typeface="Britannic Bold" panose="020B0903060703020204" pitchFamily="34" charset="0"/>
              </a:rPr>
              <a:t>PROBLEM INSIGHTS &amp; OPPORTUNITY AREAS</a:t>
            </a:r>
            <a:endParaRPr lang="en-US" sz="2800" dirty="0">
              <a:solidFill>
                <a:schemeClr val="accent2"/>
              </a:solidFill>
              <a:latin typeface="Britannic Bold" panose="020B0903060703020204" pitchFamily="34" charset="0"/>
            </a:endParaRPr>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18295" y="1402382"/>
            <a:ext cx="9601200" cy="502920"/>
          </a:xfrm>
          <a:prstGeom prst="rect">
            <a:avLst/>
          </a:prstGeom>
          <a:noFill/>
          <a:ln/>
        </p:spPr>
        <p:txBody>
          <a:bodyPr wrap="square" lIns="0" tIns="0" rIns="0" bIns="0" rtlCol="0" anchor="ctr"/>
          <a:lstStyle/>
          <a:p>
            <a:pPr marL="0" indent="0">
              <a:buNone/>
            </a:pPr>
            <a:r>
              <a:rPr lang="en-US" sz="2400" b="1" dirty="0">
                <a:solidFill>
                  <a:schemeClr val="accent2"/>
                </a:solidFill>
                <a:latin typeface="Britannic Bold" panose="020B0903060703020204" pitchFamily="34" charset="0"/>
              </a:rPr>
              <a:t>Resources required to solve the problem</a:t>
            </a:r>
            <a:endParaRPr lang="en-US" sz="2400" dirty="0">
              <a:latin typeface="Britannic Bold" panose="020B0903060703020204" pitchFamily="34" charset="0"/>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
        <p:nvSpPr>
          <p:cNvPr id="11" name="TextBox 10">
            <a:extLst>
              <a:ext uri="{FF2B5EF4-FFF2-40B4-BE49-F238E27FC236}">
                <a16:creationId xmlns:a16="http://schemas.microsoft.com/office/drawing/2014/main" id="{FFC464CE-2367-18D7-56CA-AD0088F15F46}"/>
              </a:ext>
            </a:extLst>
          </p:cNvPr>
          <p:cNvSpPr txBox="1"/>
          <p:nvPr/>
        </p:nvSpPr>
        <p:spPr>
          <a:xfrm>
            <a:off x="1005840" y="1653842"/>
            <a:ext cx="9614034" cy="4247317"/>
          </a:xfrm>
          <a:prstGeom prst="rect">
            <a:avLst/>
          </a:prstGeom>
          <a:noFill/>
        </p:spPr>
        <p:txBody>
          <a:bodyPr wrap="square" rtlCol="0">
            <a:spAutoFit/>
          </a:bodyPr>
          <a:lstStyle/>
          <a:p>
            <a:endParaRPr lang="en-US" dirty="0"/>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Hardware Requirements</a:t>
            </a:r>
          </a:p>
          <a:p>
            <a:r>
              <a:rPr lang="en-US" dirty="0">
                <a:solidFill>
                  <a:schemeClr val="accent2"/>
                </a:solidFill>
                <a:latin typeface="Britannic Bold" panose="020B0903060703020204" pitchFamily="34" charset="0"/>
              </a:rPr>
              <a:t>* Laptop or desktop for application development.</a:t>
            </a:r>
          </a:p>
          <a:p>
            <a:r>
              <a:rPr lang="en-US" dirty="0">
                <a:solidFill>
                  <a:schemeClr val="accent2"/>
                </a:solidFill>
                <a:latin typeface="Britannic Bold" panose="020B0903060703020204" pitchFamily="34" charset="0"/>
              </a:rPr>
              <a:t>* Smartphone or computer with internet access for users.</a:t>
            </a:r>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Software Requirements</a:t>
            </a:r>
          </a:p>
          <a:p>
            <a:r>
              <a:rPr lang="en-US" dirty="0">
                <a:solidFill>
                  <a:schemeClr val="accent2"/>
                </a:solidFill>
                <a:latin typeface="Britannic Bold" panose="020B0903060703020204" pitchFamily="34" charset="0"/>
              </a:rPr>
              <a:t>* Frontend: Flutter</a:t>
            </a:r>
          </a:p>
          <a:p>
            <a:r>
              <a:rPr lang="en-US" dirty="0">
                <a:solidFill>
                  <a:schemeClr val="accent2"/>
                </a:solidFill>
                <a:latin typeface="Britannic Bold" panose="020B0903060703020204" pitchFamily="34" charset="0"/>
              </a:rPr>
              <a:t>* Backend: Python Flask</a:t>
            </a:r>
          </a:p>
          <a:p>
            <a:r>
              <a:rPr lang="en-US" dirty="0">
                <a:solidFill>
                  <a:schemeClr val="accent2"/>
                </a:solidFill>
                <a:latin typeface="Britannic Bold" panose="020B0903060703020204" pitchFamily="34" charset="0"/>
              </a:rPr>
              <a:t>* Database: MySQL</a:t>
            </a:r>
          </a:p>
          <a:p>
            <a:r>
              <a:rPr lang="en-US" dirty="0">
                <a:solidFill>
                  <a:schemeClr val="accent2"/>
                </a:solidFill>
                <a:latin typeface="Britannic Bold" panose="020B0903060703020204" pitchFamily="34" charset="0"/>
              </a:rPr>
              <a:t>* Database connectivity: </a:t>
            </a:r>
            <a:r>
              <a:rPr lang="en-US" dirty="0" err="1">
                <a:solidFill>
                  <a:schemeClr val="accent2"/>
                </a:solidFill>
                <a:latin typeface="Britannic Bold" panose="020B0903060703020204" pitchFamily="34" charset="0"/>
              </a:rPr>
              <a:t>mysql</a:t>
            </a:r>
            <a:r>
              <a:rPr lang="en-US" dirty="0">
                <a:solidFill>
                  <a:schemeClr val="accent2"/>
                </a:solidFill>
                <a:latin typeface="Britannic Bold" panose="020B0903060703020204" pitchFamily="34" charset="0"/>
              </a:rPr>
              <a:t>-connector-python</a:t>
            </a:r>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Other Resources (Including Human Resources)</a:t>
            </a:r>
          </a:p>
          <a:p>
            <a:r>
              <a:rPr lang="en-US" dirty="0">
                <a:solidFill>
                  <a:schemeClr val="accent2"/>
                </a:solidFill>
                <a:latin typeface="Britannic Bold" panose="020B0903060703020204" pitchFamily="34" charset="0"/>
              </a:rPr>
              <a:t>* Team members for UI design and development.</a:t>
            </a:r>
          </a:p>
          <a:p>
            <a:r>
              <a:rPr lang="en-US" dirty="0">
                <a:solidFill>
                  <a:schemeClr val="accent2"/>
                </a:solidFill>
                <a:latin typeface="Britannic Bold" panose="020B0903060703020204" pitchFamily="34" charset="0"/>
              </a:rPr>
              <a:t>* Backend and database implementation.</a:t>
            </a:r>
          </a:p>
          <a:p>
            <a:r>
              <a:rPr lang="en-US" dirty="0">
                <a:solidFill>
                  <a:schemeClr val="accent2"/>
                </a:solidFill>
                <a:latin typeface="Britannic Bold" panose="020B0903060703020204" pitchFamily="34" charset="0"/>
              </a:rPr>
              <a:t>* Reliable college, course, eligibility and admission information.</a:t>
            </a:r>
          </a:p>
          <a:p>
            <a:r>
              <a:rPr lang="en-US" dirty="0">
                <a:solidFill>
                  <a:schemeClr val="accent2"/>
                </a:solidFill>
                <a:latin typeface="Britannic Bold" panose="020B0903060703020204" pitchFamily="34" charset="0"/>
              </a:rPr>
              <a:t>* Testing with Class 12 students and gathering feedback.</a:t>
            </a:r>
          </a:p>
          <a:p>
            <a:r>
              <a:rPr lang="en-US" dirty="0">
                <a:solidFill>
                  <a:schemeClr val="accent2"/>
                </a:solidFill>
                <a:latin typeface="Britannic Bold" panose="020B0903060703020204" pitchFamily="34" charset="0"/>
              </a:rPr>
              <a:t>* Research, validation and presentation preparation.</a:t>
            </a:r>
            <a:endParaRPr lang="en-IN" dirty="0">
              <a:solidFill>
                <a:schemeClr val="accent2"/>
              </a:solidFill>
              <a:latin typeface="Britannic Bold" panose="020B0903060703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accent2"/>
                </a:solidFill>
                <a:latin typeface="Britannic Bold" panose="020B0903060703020204" pitchFamily="34" charset="0"/>
              </a:rPr>
              <a:t>INITIAL DIRECTION &amp; EXPECTED OUTCOME</a:t>
            </a:r>
            <a:endParaRPr lang="en-US" sz="2400" dirty="0">
              <a:solidFill>
                <a:schemeClr val="accent2"/>
              </a:solidFill>
              <a:latin typeface="Britannic Bold" panose="020B0903060703020204" pitchFamily="34" charset="0"/>
            </a:endParaRPr>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2800" b="1" dirty="0">
                <a:solidFill>
                  <a:schemeClr val="accent2"/>
                </a:solidFill>
                <a:latin typeface="Britannic Bold" panose="020B0903060703020204" pitchFamily="34" charset="0"/>
              </a:rPr>
              <a:t>What Is Your Expected Outcome?</a:t>
            </a:r>
            <a:endParaRPr lang="en-US" sz="2800" dirty="0">
              <a:latin typeface="Britannic Bold" panose="020B0903060703020204" pitchFamily="34" charset="0"/>
            </a:endParaRP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
        <p:nvSpPr>
          <p:cNvPr id="11" name="TextBox 10">
            <a:extLst>
              <a:ext uri="{FF2B5EF4-FFF2-40B4-BE49-F238E27FC236}">
                <a16:creationId xmlns:a16="http://schemas.microsoft.com/office/drawing/2014/main" id="{55A91BB1-F737-2FEA-9C2A-BBD8E8AB88F6}"/>
              </a:ext>
            </a:extLst>
          </p:cNvPr>
          <p:cNvSpPr txBox="1"/>
          <p:nvPr/>
        </p:nvSpPr>
        <p:spPr>
          <a:xfrm>
            <a:off x="914400" y="1964548"/>
            <a:ext cx="8371428" cy="3416320"/>
          </a:xfrm>
          <a:prstGeom prst="rect">
            <a:avLst/>
          </a:prstGeom>
          <a:noFill/>
        </p:spPr>
        <p:txBody>
          <a:bodyPr wrap="square" rtlCol="0">
            <a:spAutoFit/>
          </a:bodyPr>
          <a:lstStyle/>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What Our Team Intends to Do</a:t>
            </a:r>
          </a:p>
          <a:p>
            <a:r>
              <a:rPr lang="en-US" dirty="0">
                <a:solidFill>
                  <a:schemeClr val="accent2"/>
                </a:solidFill>
                <a:latin typeface="Britannic Bold" panose="020B0903060703020204" pitchFamily="34" charset="0"/>
              </a:rPr>
              <a:t>Build a guided college-and-course finder designed around the needs of Class 12 students.</a:t>
            </a:r>
          </a:p>
          <a:p>
            <a:r>
              <a:rPr lang="en-US" dirty="0">
                <a:solidFill>
                  <a:schemeClr val="accent2"/>
                </a:solidFill>
                <a:latin typeface="Britannic Bold" panose="020B0903060703020204" pitchFamily="34" charset="0"/>
              </a:rPr>
              <a:t>What We Want to Improve</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Course discovery based on school stream and interests.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College suggestions based on preferred cities.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 Understanding of eligibility and entrance-exam routes.</a:t>
            </a:r>
          </a:p>
          <a:p>
            <a:pPr marL="285750" indent="-285750">
              <a:buFont typeface="Arial" panose="020B0604020202020204" pitchFamily="34" charset="0"/>
              <a:buChar char="•"/>
            </a:pPr>
            <a:r>
              <a:rPr lang="en-US" dirty="0">
                <a:solidFill>
                  <a:schemeClr val="accent2"/>
                </a:solidFill>
                <a:latin typeface="Britannic Bold" panose="020B0903060703020204" pitchFamily="34" charset="0"/>
              </a:rPr>
              <a:t>Access to previous-year cutoffs and placement information.</a:t>
            </a:r>
          </a:p>
          <a:p>
            <a:pPr marL="285750" indent="-285750">
              <a:buFont typeface="Wingdings" panose="05000000000000000000" pitchFamily="2" charset="2"/>
              <a:buChar char="v"/>
            </a:pPr>
            <a:r>
              <a:rPr lang="en-US" dirty="0">
                <a:solidFill>
                  <a:schemeClr val="accent2"/>
                </a:solidFill>
                <a:latin typeface="Britannic Bold" panose="020B0903060703020204" pitchFamily="34" charset="0"/>
              </a:rPr>
              <a:t>What Successful Improvement Should We Achieve?</a:t>
            </a:r>
          </a:p>
          <a:p>
            <a:r>
              <a:rPr lang="en-US" dirty="0">
                <a:solidFill>
                  <a:schemeClr val="accent2"/>
                </a:solidFill>
                <a:latin typeface="Britannic Bold" panose="020B0903060703020204" pitchFamily="34" charset="0"/>
              </a:rPr>
              <a:t>Develop a working prototype that helps students discover relevant courses, shortlist colleges and compare important information through a clearer, more </a:t>
            </a:r>
            <a:r>
              <a:rPr lang="en-US" dirty="0" err="1">
                <a:solidFill>
                  <a:schemeClr val="accent2"/>
                </a:solidFill>
                <a:latin typeface="Britannic Bold" panose="020B0903060703020204" pitchFamily="34" charset="0"/>
              </a:rPr>
              <a:t>organised</a:t>
            </a:r>
            <a:r>
              <a:rPr lang="en-US" dirty="0">
                <a:solidFill>
                  <a:schemeClr val="accent2"/>
                </a:solidFill>
                <a:latin typeface="Britannic Bold" panose="020B0903060703020204" pitchFamily="34" charset="0"/>
              </a:rPr>
              <a:t> process. Cutoff estimates, if provided, will be labelled as estimates.</a:t>
            </a:r>
            <a:endParaRPr lang="en-IN" dirty="0">
              <a:solidFill>
                <a:schemeClr val="accent2"/>
              </a:solidFill>
              <a:latin typeface="Britannic Bold" panose="020B0903060703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a:solidFill>
                  <a:schemeClr val="accent1"/>
                </a:solidFill>
              </a:rPr>
              <a:t>Syntax Who?</a:t>
            </a:r>
            <a:endParaRPr lang="en-US" sz="900" dirty="0"/>
          </a:p>
        </p:txBody>
      </p:sp>
      <p:sp>
        <p:nvSpPr>
          <p:cNvPr id="7" name="Lead Icon Hex"/>
          <p:cNvSpPr/>
          <p:nvPr/>
        </p:nvSpPr>
        <p:spPr>
          <a:xfrm>
            <a:off x="548640" y="1463040"/>
            <a:ext cx="457200" cy="395935"/>
          </a:xfrm>
          <a:prstGeom prst="hexagon">
            <a:avLst/>
          </a:prstGeom>
          <a:solidFill>
            <a:schemeClr val="accent3"/>
          </a:solidFill>
          <a:ln/>
        </p:spPr>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1318299964"/>
              </p:ext>
            </p:extLst>
          </p:nvPr>
        </p:nvGraphicFramePr>
        <p:xfrm>
          <a:off x="548640" y="2194560"/>
          <a:ext cx="11094415" cy="3474720"/>
        </p:xfrm>
        <a:graphic>
          <a:graphicData uri="http://schemas.openxmlformats.org/drawingml/2006/table">
            <a:tbl>
              <a:tblPr/>
              <a:tblGrid>
                <a:gridCol w="3012707">
                  <a:extLst>
                    <a:ext uri="{9D8B030D-6E8A-4147-A177-3AD203B41FA5}">
                      <a16:colId xmlns:a16="http://schemas.microsoft.com/office/drawing/2014/main" val="20000"/>
                    </a:ext>
                  </a:extLst>
                </a:gridCol>
                <a:gridCol w="2565133">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1 KARRI JAHNAVI</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Database / Research </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 Design MySQL tables and </a:t>
                      </a:r>
                      <a:r>
                        <a:rPr lang="en-US" sz="1400" dirty="0" err="1">
                          <a:latin typeface="Calibri" charset="0"/>
                          <a:ea typeface="Calibri" charset="0"/>
                          <a:cs typeface="Calibri" charset="0"/>
                        </a:rPr>
                        <a:t>organise</a:t>
                      </a:r>
                      <a:r>
                        <a:rPr lang="en-US" sz="1400" dirty="0">
                          <a:latin typeface="Calibri" charset="0"/>
                          <a:ea typeface="Calibri" charset="0"/>
                          <a:cs typeface="Calibri" charset="0"/>
                        </a:rPr>
                        <a:t> college/course information.                   </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2 LAKSHANA SASVITHA S.S</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Backend </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Design the interface and develop student-facing screens. </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3 M.CHETHANA SAI RAMA LAKSHMI</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latin typeface="Calibri" charset="0"/>
                          <a:ea typeface="Calibri" charset="0"/>
                          <a:cs typeface="Calibri" charset="0"/>
                        </a:rPr>
                        <a:t>UI / Flutter</a:t>
                      </a:r>
                    </a:p>
                    <a:p>
                      <a:pPr marL="0" indent="0">
                        <a:buNone/>
                      </a:pP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Develop Flask routes and backend logic.</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pPr marL="0" indent="0">
                        <a:buNone/>
                      </a:pPr>
                      <a:r>
                        <a:rPr lang="en-US" sz="1400" b="1" dirty="0">
                          <a:solidFill>
                            <a:schemeClr val="tx1"/>
                          </a:solidFill>
                          <a:latin typeface="Calibri" pitchFamily="34" charset="0"/>
                          <a:ea typeface="Calibri" pitchFamily="34" charset="-122"/>
                          <a:cs typeface="Calibri" pitchFamily="34" charset="-120"/>
                        </a:rPr>
                        <a:t>Member 4 M.YASHWANTH</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Testing / Presentation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latin typeface="Calibri" charset="0"/>
                          <a:ea typeface="Calibri" charset="0"/>
                          <a:cs typeface="Calibri" charset="0"/>
                        </a:rPr>
                        <a:t>Test the application, verify information sources and prepare the presentation.</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1065</Words>
  <Application>Microsoft Office PowerPoint</Application>
  <PresentationFormat>Widescreen</PresentationFormat>
  <Paragraphs>149</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Bahnschrift SemiBold</vt:lpstr>
      <vt:lpstr>Britannic Bold</vt:lpstr>
      <vt:lpstr>Calibri</vt:lpstr>
      <vt:lpstr>Cambria</vt:lpstr>
      <vt:lpstr>Wingdings</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Karri Jahnavi - [CB.SC.U4CYS26022]</cp:lastModifiedBy>
  <cp:revision>1</cp:revision>
  <dcterms:created xsi:type="dcterms:W3CDTF">2026-10-07T15:27:40Z</dcterms:created>
  <dcterms:modified xsi:type="dcterms:W3CDTF">2026-10-09T17:49:44Z</dcterms:modified>
</cp:coreProperties>
</file>